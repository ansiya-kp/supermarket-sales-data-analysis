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6" r:id="rId2"/>
    <p:sldId id="258" r:id="rId3"/>
    <p:sldId id="261" r:id="rId4"/>
    <p:sldId id="262" r:id="rId5"/>
    <p:sldId id="265" r:id="rId6"/>
    <p:sldId id="267" r:id="rId7"/>
    <p:sldId id="270" r:id="rId8"/>
    <p:sldId id="271" r:id="rId9"/>
    <p:sldId id="263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378" autoAdjust="0"/>
  </p:normalViewPr>
  <p:slideViewPr>
    <p:cSldViewPr snapToGrid="0">
      <p:cViewPr varScale="1">
        <p:scale>
          <a:sx n="46" d="100"/>
          <a:sy n="46" d="100"/>
        </p:scale>
        <p:origin x="3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omadassquare.blogspot.com/2018/09/cajeras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lickr.com/photos/54851534@N06/5138350009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creativecommons.org/licenses/by-nc-nd/3.0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76960">
              <a:schemeClr val="tx1"/>
            </a:gs>
            <a:gs pos="535">
              <a:schemeClr val="bg2">
                <a:lumMod val="20000"/>
                <a:lumOff val="80000"/>
              </a:schemeClr>
            </a:gs>
            <a:gs pos="10000">
              <a:schemeClr val="tx2">
                <a:lumMod val="20000"/>
                <a:lumOff val="80000"/>
              </a:schemeClr>
            </a:gs>
            <a:gs pos="100000">
              <a:schemeClr val="tx1">
                <a:lumMod val="95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8702-1A54-43C9-9E9B-507685920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60" y="-635001"/>
            <a:ext cx="10922000" cy="213868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Supermarket sales data analysis</a:t>
            </a:r>
            <a:endParaRPr lang="en-IN" sz="4400" b="1" dirty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DE4B1E2-3EE7-410B-9F59-6EA0BE9DD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0160" y="1933787"/>
            <a:ext cx="10312400" cy="3268133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US" sz="9600" dirty="0"/>
              <a:t>Python – Based Data Analytics Project to Explore the</a:t>
            </a:r>
          </a:p>
          <a:p>
            <a:pPr algn="ctr"/>
            <a:r>
              <a:rPr lang="en-US" sz="9600" dirty="0"/>
              <a:t>Factors Associated with Academic Performance</a:t>
            </a:r>
          </a:p>
          <a:p>
            <a:pPr algn="ctr"/>
            <a:endParaRPr lang="en-US" dirty="0"/>
          </a:p>
          <a:p>
            <a:pPr algn="ctr"/>
            <a:endParaRPr lang="en-US" sz="9600" dirty="0"/>
          </a:p>
          <a:p>
            <a:pPr algn="ctr"/>
            <a:r>
              <a:rPr lang="en-US" sz="9600" dirty="0"/>
              <a:t>Presented by –  </a:t>
            </a:r>
            <a:r>
              <a:rPr lang="en-US" sz="9600" dirty="0" err="1"/>
              <a:t>Ansiya</a:t>
            </a:r>
            <a:r>
              <a:rPr lang="en-US" sz="9600" dirty="0"/>
              <a:t> . K p</a:t>
            </a:r>
          </a:p>
          <a:p>
            <a:pPr algn="ctr"/>
            <a:r>
              <a:rPr lang="en-US" sz="9600" dirty="0"/>
              <a:t>Tools : Python | Pandas|  NumPy | Matplotlib | Seaborn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:</a:t>
            </a:r>
          </a:p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1B4DB-E992-4284-AC88-818F1FBD0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7102" y="4524807"/>
            <a:ext cx="5528696" cy="2214440"/>
          </a:xfrm>
          <a:prstGeom prst="rect">
            <a:avLst/>
          </a:prstGeom>
          <a:effectLst>
            <a:glow rad="127000">
              <a:schemeClr val="tx1"/>
            </a:glow>
            <a:outerShdw dir="300000" algn="ctr" rotWithShape="0">
              <a:srgbClr val="000000">
                <a:alpha val="0"/>
              </a:srgbClr>
            </a:outerShdw>
            <a:softEdge rad="2159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D6BEF9-D3E0-4247-8C36-CD595661E7A2}"/>
              </a:ext>
            </a:extLst>
          </p:cNvPr>
          <p:cNvSpPr txBox="1"/>
          <p:nvPr/>
        </p:nvSpPr>
        <p:spPr>
          <a:xfrm>
            <a:off x="7212459" y="7152286"/>
            <a:ext cx="49084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nomadassquare.blogspot.com/2018/09/cajeras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-nd/3.0/"/>
              </a:rPr>
              <a:t>CC BY-NC-ND</a:t>
            </a:r>
            <a:endParaRPr lang="en-IN" sz="9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BBCBEC-5F11-407B-B52B-EFAF42D168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493249" y="4422666"/>
            <a:ext cx="6698751" cy="24187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F47E59-3C4C-4283-A07E-A7C294BF9F0F}"/>
              </a:ext>
            </a:extLst>
          </p:cNvPr>
          <p:cNvSpPr txBox="1"/>
          <p:nvPr/>
        </p:nvSpPr>
        <p:spPr>
          <a:xfrm>
            <a:off x="0" y="6907086"/>
            <a:ext cx="66987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6" tooltip="https://www.flickr.com/photos/54851534@N06/5138350009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-nd/3.0/"/>
              </a:rPr>
              <a:t>CC BY-NC-ND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4291511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9290">
              <a:schemeClr val="bg2">
                <a:lumMod val="20000"/>
                <a:lumOff val="80000"/>
              </a:schemeClr>
            </a:gs>
            <a:gs pos="10000">
              <a:schemeClr val="tx2">
                <a:lumMod val="20000"/>
                <a:lumOff val="8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D54BF-7621-498E-BFEA-7FA11024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752475"/>
            <a:ext cx="11603038" cy="150706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Objective</a:t>
            </a:r>
            <a:r>
              <a:rPr lang="en-US" dirty="0"/>
              <a:t>                             </a:t>
            </a:r>
            <a:r>
              <a:rPr lang="en-US" dirty="0">
                <a:solidFill>
                  <a:schemeClr val="bg1"/>
                </a:solidFill>
              </a:rPr>
              <a:t>Data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overview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60597-091E-40B0-BBBE-969870490C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612" y="1421342"/>
            <a:ext cx="4937655" cy="3615267"/>
          </a:xfrm>
        </p:spPr>
        <p:txBody>
          <a:bodyPr/>
          <a:lstStyle/>
          <a:p>
            <a:r>
              <a:rPr lang="en-US" dirty="0"/>
              <a:t>To analyze supermarket sales </a:t>
            </a:r>
          </a:p>
          <a:p>
            <a:r>
              <a:rPr lang="en-US" dirty="0"/>
              <a:t>To understand sales performance and customer behavior</a:t>
            </a:r>
          </a:p>
          <a:p>
            <a:r>
              <a:rPr lang="en-US" dirty="0"/>
              <a:t>To identify important pattern and relationship in data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B3BE3-F369-48AA-8719-963D1520A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9115" y="1621367"/>
            <a:ext cx="4934479" cy="3615266"/>
          </a:xfrm>
        </p:spPr>
        <p:txBody>
          <a:bodyPr/>
          <a:lstStyle/>
          <a:p>
            <a:r>
              <a:rPr lang="en-US" dirty="0"/>
              <a:t>Supermarket sales dataset</a:t>
            </a:r>
          </a:p>
          <a:p>
            <a:r>
              <a:rPr lang="en-US" dirty="0"/>
              <a:t>1000 records and 17 columns</a:t>
            </a:r>
          </a:p>
          <a:p>
            <a:r>
              <a:rPr lang="en-US" dirty="0"/>
              <a:t>Contains sales , customer , product , payment and rating information</a:t>
            </a:r>
          </a:p>
          <a:p>
            <a:r>
              <a:rPr lang="en-US" dirty="0"/>
              <a:t>Analyzed using Python , Pandas , NumPy , matplotlib and seaborn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239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lumMod val="20000"/>
                <a:lumOff val="80000"/>
              </a:schemeClr>
            </a:gs>
            <a:gs pos="86140">
              <a:schemeClr val="tx2">
                <a:lumMod val="20000"/>
                <a:lumOff val="8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0A624-F570-425E-80A3-28C68B22C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737" y="858307"/>
            <a:ext cx="8534400" cy="150706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Data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processing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C784A-CF33-4302-B1CE-71A707DB7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912" y="1346201"/>
            <a:ext cx="8534400" cy="3615267"/>
          </a:xfrm>
        </p:spPr>
        <p:txBody>
          <a:bodyPr/>
          <a:lstStyle/>
          <a:p>
            <a:r>
              <a:rPr lang="en-US" dirty="0"/>
              <a:t>Checked missing values and duplicates</a:t>
            </a:r>
          </a:p>
          <a:p>
            <a:r>
              <a:rPr lang="en-US" dirty="0"/>
              <a:t>Verified data types of the columns</a:t>
            </a:r>
          </a:p>
          <a:p>
            <a:r>
              <a:rPr lang="en-US" dirty="0"/>
              <a:t>Convert the date column in the required format</a:t>
            </a:r>
          </a:p>
          <a:p>
            <a:r>
              <a:rPr lang="en-US" dirty="0"/>
              <a:t>Check for unusual or negative values</a:t>
            </a:r>
          </a:p>
          <a:p>
            <a:r>
              <a:rPr lang="en-US" dirty="0"/>
              <a:t>Prepared the data for analysis and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749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8210">
              <a:schemeClr val="bg2">
                <a:lumMod val="20000"/>
                <a:lumOff val="80000"/>
              </a:schemeClr>
            </a:gs>
            <a:gs pos="78043">
              <a:schemeClr val="tx2">
                <a:lumMod val="20000"/>
                <a:lumOff val="80000"/>
              </a:schemeClr>
            </a:gs>
            <a:gs pos="10000">
              <a:schemeClr val="tx2">
                <a:lumMod val="20000"/>
                <a:lumOff val="8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7DBB-AA1D-4E26-BA38-13D9B762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88999"/>
            <a:ext cx="8534400" cy="150706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Exploratory data analysis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F748F-9A1C-42EB-846B-63459159D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594" y="1510747"/>
            <a:ext cx="8534400" cy="3615267"/>
          </a:xfrm>
        </p:spPr>
        <p:txBody>
          <a:bodyPr/>
          <a:lstStyle/>
          <a:p>
            <a:r>
              <a:rPr lang="en-US" dirty="0"/>
              <a:t>Analyzed total sales across different product lines and cities</a:t>
            </a:r>
          </a:p>
          <a:p>
            <a:r>
              <a:rPr lang="en-US" dirty="0"/>
              <a:t>Studied date-wise sales trends using a line chart</a:t>
            </a:r>
          </a:p>
          <a:p>
            <a:r>
              <a:rPr lang="en-US" dirty="0"/>
              <a:t>Examined the distribution of unit price and total sales</a:t>
            </a:r>
          </a:p>
          <a:p>
            <a:r>
              <a:rPr lang="en-US" dirty="0"/>
              <a:t>Analyzed the relationship between unit price and quantity</a:t>
            </a:r>
          </a:p>
          <a:p>
            <a:r>
              <a:rPr lang="en-US" dirty="0"/>
              <a:t>Studied payment methods , customer types,  gender-wise ratings and correlations among numerical variable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0489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3980">
              <a:schemeClr val="tx2">
                <a:lumMod val="20000"/>
                <a:lumOff val="80000"/>
              </a:schemeClr>
            </a:gs>
            <a:gs pos="10000">
              <a:schemeClr val="tx2">
                <a:lumMod val="20000"/>
                <a:lumOff val="8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294C0-2720-4883-80E9-4AB849DD3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57" y="-313244"/>
            <a:ext cx="8534400" cy="150706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Visualization &amp; findings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A4C8A-1A49-4EA9-A3DE-AAA55A32A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10" y="868166"/>
            <a:ext cx="11657707" cy="5795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1.Product Line vs Total Sales-  Bar Plot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show the total sales generated by each product line and helps compare product performance. Overall, sales are evenly distributed across all categories(ranging from $50,000 to $60,000),with food &amp;beverages and sports &amp; travel recording the highest sales revenue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2.Date-wise Total Sales – Line Chart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Line chart tracking daily total sales trends from January 2019 to April 2019. The highest daily sales revenue peaked above $7,000 in early February and mid – march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3</a:t>
            </a:r>
            <a:r>
              <a:rPr lang="en-IN" dirty="0">
                <a:solidFill>
                  <a:schemeClr val="bg1"/>
                </a:solidFill>
              </a:rPr>
              <a:t>.Distribution of Unit Price – Histogram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Displaying the frequency distribution of product unit prices ranging from 10 to 100.The highest frequency occurs in the price range near 100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776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91988">
              <a:schemeClr val="bg2">
                <a:lumMod val="20000"/>
                <a:lumOff val="80000"/>
              </a:schemeClr>
            </a:gs>
            <a:gs pos="81280">
              <a:schemeClr val="tx2">
                <a:lumMod val="20000"/>
                <a:lumOff val="80000"/>
              </a:schemeClr>
            </a:gs>
            <a:gs pos="10000">
              <a:schemeClr val="tx2">
                <a:lumMod val="20000"/>
                <a:lumOff val="8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BA36D-7922-46E6-9D3C-11923F48CBA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0"/>
            <a:ext cx="12082408" cy="685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4.Unit Price vs Quantity – Scatter plot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 Scatter plot showing the relationship between unit price and quantity purchased . Data    points are evenly spread across all price levels and UANTITIES(1 TO 10).There is no strong linear correlation between the unit price of an item and the quantity bought 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r>
              <a:rPr lang="en-US" dirty="0"/>
              <a:t>5. Payment Method Distribution – Pie chart</a:t>
            </a:r>
          </a:p>
          <a:p>
            <a:pPr marL="0" indent="0">
              <a:buNone/>
            </a:pPr>
            <a:r>
              <a:rPr lang="en-US" dirty="0"/>
              <a:t>      Representing the percentage split among customer payment methods(E wallet, Cash , Credit Card).E wallet is the most preferred payment method at 34.5% . Cash follows closely at 34.4% while credit card accounts for 31.1%</a:t>
            </a:r>
          </a:p>
          <a:p>
            <a:endParaRPr lang="en-US" dirty="0"/>
          </a:p>
          <a:p>
            <a:r>
              <a:rPr lang="en-US" dirty="0"/>
              <a:t>6</a:t>
            </a:r>
            <a:r>
              <a:rPr lang="en-IN" dirty="0"/>
              <a:t>. Distribution of Total Sales – Box plot</a:t>
            </a:r>
          </a:p>
          <a:p>
            <a:pPr marL="0" indent="0">
              <a:buNone/>
            </a:pPr>
            <a:r>
              <a:rPr lang="en-US" dirty="0"/>
              <a:t>      B</a:t>
            </a:r>
            <a:r>
              <a:rPr lang="en-IN" dirty="0"/>
              <a:t>ox plot illustrating the central tendency, interquartile range(IQR),and outliers of total sales values . The majority of transactions fall between $200 and $500,with extreme outlier sales exceeding $1,000</a:t>
            </a:r>
          </a:p>
          <a:p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633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6590">
              <a:schemeClr val="tx2">
                <a:lumMod val="20000"/>
                <a:lumOff val="80000"/>
              </a:schemeClr>
            </a:gs>
            <a:gs pos="10000">
              <a:schemeClr val="bg2">
                <a:lumMod val="20000"/>
                <a:lumOff val="8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F403D-168A-4F50-9724-30D415324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04" y="287676"/>
            <a:ext cx="11974896" cy="607973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7. Correlation Heatmap </a:t>
            </a:r>
          </a:p>
          <a:p>
            <a:pPr marL="0" indent="0">
              <a:buNone/>
            </a:pPr>
            <a:r>
              <a:rPr lang="en-US" dirty="0"/>
              <a:t>      correlation matrix heatmap displaying relationships between numerical features like Unit price ,Quantity , Tax , Total , COGS , Gross income and rating.Total,Tax5%,COGS and Gross Income    share a perfect positive correlation(1.0).Customer rating show near-zero correlation with all financial metrics</a:t>
            </a:r>
          </a:p>
          <a:p>
            <a:endParaRPr lang="en-US" dirty="0"/>
          </a:p>
          <a:p>
            <a:r>
              <a:rPr lang="en-US" dirty="0"/>
              <a:t>8.Total Sales by City - Bar Chart</a:t>
            </a:r>
          </a:p>
          <a:p>
            <a:pPr marL="0" indent="0">
              <a:buNone/>
            </a:pPr>
            <a:r>
              <a:rPr lang="en-US" dirty="0"/>
              <a:t>     Comparing total revenue generated across three cities : Yangon , </a:t>
            </a:r>
            <a:r>
              <a:rPr lang="en-US" dirty="0" err="1"/>
              <a:t>Naypyitaw</a:t>
            </a:r>
            <a:r>
              <a:rPr lang="en-US" dirty="0"/>
              <a:t> city and Mandalay . Three cities generate similar total revenue , each exceeding$100,000.Naypyitaw city recorded the highest total sales overall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9.Customer Type Distribution – Bar chart</a:t>
            </a:r>
          </a:p>
          <a:p>
            <a:pPr marL="0" indent="0">
              <a:buNone/>
            </a:pPr>
            <a:r>
              <a:rPr lang="en-US" dirty="0"/>
              <a:t>      comparing the volume count of member customers versus Normal customers . Normal customers show a slightly higher count (close to 500)compared members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10.Rating Distribution by gender – Violin plot </a:t>
            </a:r>
          </a:p>
          <a:p>
            <a:pPr marL="0" indent="0">
              <a:buNone/>
            </a:pPr>
            <a:r>
              <a:rPr lang="en-US" dirty="0"/>
              <a:t>      Violin plot illustrating the distribution density of customer ratings given by female vs male shoppers . High density of rating for both male and female customers centers around a median of 7</a:t>
            </a:r>
          </a:p>
        </p:txBody>
      </p:sp>
    </p:spTree>
    <p:extLst>
      <p:ext uri="{BB962C8B-B14F-4D97-AF65-F5344CB8AC3E}">
        <p14:creationId xmlns:p14="http://schemas.microsoft.com/office/powerpoint/2010/main" val="918985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2900">
              <a:schemeClr val="bg2">
                <a:lumMod val="20000"/>
                <a:lumOff val="80000"/>
              </a:schemeClr>
            </a:gs>
            <a:gs pos="10000">
              <a:schemeClr val="tx2">
                <a:lumMod val="20000"/>
                <a:lumOff val="8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FC3AC-BDD6-435E-AC58-6FEB26CA0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964" y="0"/>
            <a:ext cx="11313824" cy="6664036"/>
          </a:xfrm>
        </p:spPr>
        <p:txBody>
          <a:bodyPr>
            <a:normAutofit/>
          </a:bodyPr>
          <a:lstStyle/>
          <a:p>
            <a:r>
              <a:rPr lang="en-US" dirty="0"/>
              <a:t>11.Distribution of Quantity purchase per Transaction – Histogram</a:t>
            </a:r>
          </a:p>
          <a:p>
            <a:pPr marL="0" indent="0">
              <a:buNone/>
            </a:pPr>
            <a:r>
              <a:rPr lang="en-US" dirty="0"/>
              <a:t>       Display the transaction counts for item quantities ranging from 1 to 10 units . Transaction            for quantities between 2 and 9 remain consistently steady between 80 and 100 counts</a:t>
            </a:r>
          </a:p>
          <a:p>
            <a:r>
              <a:rPr lang="en-US" dirty="0"/>
              <a:t>12.Tax Amount Distribution by product line –  Violin  plot</a:t>
            </a:r>
          </a:p>
          <a:p>
            <a:pPr marL="0" indent="0">
              <a:buNone/>
            </a:pPr>
            <a:r>
              <a:rPr lang="en-US" dirty="0"/>
              <a:t>        Show the distribution and density of 5% tax values across all six product lines  Most product line have a similar spread with tax values  ranging from $0 to above $50 categories like food and beverages and Health and beauty show a slightly wider density near the center indicating more frequent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13.Revenue share by Branches – Pie chart</a:t>
            </a:r>
          </a:p>
          <a:p>
            <a:pPr marL="0" indent="0">
              <a:buNone/>
            </a:pPr>
            <a:r>
              <a:rPr lang="en-US" dirty="0"/>
              <a:t>         Branch c generate the highest individual revenue share at 34.2% Branch A and B contribute equally to total revenue with exactly 32.9% each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201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9290">
              <a:schemeClr val="bg2">
                <a:lumMod val="20000"/>
                <a:lumOff val="80000"/>
              </a:schemeClr>
            </a:gs>
            <a:gs pos="10000">
              <a:schemeClr val="tx2">
                <a:lumMod val="20000"/>
                <a:lumOff val="8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25D9-4442-4B40-AAAE-1BCA0F398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46" y="358739"/>
            <a:ext cx="8534400" cy="150706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Insights and findings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EEEA0-3A35-4302-8748-F9536DE7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58" y="1402422"/>
            <a:ext cx="10698484" cy="527578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Sales performance varied across product lines , showing that some product categories contributed more to total sales than others.</a:t>
            </a:r>
          </a:p>
          <a:p>
            <a:r>
              <a:rPr lang="en-US" dirty="0" err="1"/>
              <a:t>Naypyitaw</a:t>
            </a:r>
            <a:r>
              <a:rPr lang="en-US" dirty="0"/>
              <a:t> recorded the  highest total sales among the three cities, indicating stronger sales performance in that location.</a:t>
            </a:r>
          </a:p>
          <a:p>
            <a:r>
              <a:rPr lang="en-US" dirty="0"/>
              <a:t>E-wallet and Cash were the most commonly used payment methods , showing a relatively balanced preference among customers.</a:t>
            </a:r>
          </a:p>
          <a:p>
            <a:r>
              <a:rPr lang="en-US" dirty="0"/>
              <a:t>Normal customers were slightly higher than Member customers, indicating a small difference in customer-type distribution.</a:t>
            </a:r>
          </a:p>
          <a:p>
            <a:r>
              <a:rPr lang="en-US" dirty="0"/>
              <a:t>Quantity and unit price showed positive relationship with total sales , meaning higher quantities and prices generally contributed to higher sales values.</a:t>
            </a:r>
          </a:p>
          <a:p>
            <a:r>
              <a:rPr lang="en-US" dirty="0"/>
              <a:t>Rating for female and male customers showed broadly similar distributions , with no major difference in overall rating patterns.</a:t>
            </a:r>
          </a:p>
          <a:p>
            <a:r>
              <a:rPr lang="en-US" dirty="0"/>
              <a:t>A few high-value transaction appeared as potential outliers in the total sales distribution and may require further investigation. </a:t>
            </a:r>
          </a:p>
          <a:p>
            <a:r>
              <a:rPr lang="en-US" dirty="0"/>
              <a:t>The analysis provides use full insights in to sales perform and customer behavior.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708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7670">
              <a:schemeClr val="bg2">
                <a:lumMod val="20000"/>
                <a:lumOff val="80000"/>
              </a:schemeClr>
            </a:gs>
            <a:gs pos="10000">
              <a:schemeClr val="tx2">
                <a:lumMod val="20000"/>
                <a:lumOff val="8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5EF5-A83E-4FCC-9C36-64B2CEFC9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711" y="744542"/>
            <a:ext cx="8534400" cy="1507067"/>
          </a:xfrm>
        </p:spPr>
        <p:txBody>
          <a:bodyPr>
            <a:norm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Coclusion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9EC6E-8E3A-44E2-A8EF-E5C5E84BD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662" y="1498076"/>
            <a:ext cx="8534400" cy="3615267"/>
          </a:xfrm>
        </p:spPr>
        <p:txBody>
          <a:bodyPr/>
          <a:lstStyle/>
          <a:p>
            <a:r>
              <a:rPr lang="en-US" dirty="0"/>
              <a:t>The analysis provides an overall understanding of sales performance and customer behavior</a:t>
            </a:r>
          </a:p>
          <a:p>
            <a:r>
              <a:rPr lang="en-US" dirty="0"/>
              <a:t>The findings highlight important sales patterns and unusual transactions</a:t>
            </a:r>
          </a:p>
          <a:p>
            <a:r>
              <a:rPr lang="en-US" dirty="0"/>
              <a:t>Further analysis can focus on product –line  performance and sales trends over time</a:t>
            </a:r>
          </a:p>
          <a:p>
            <a:r>
              <a:rPr lang="en-US" dirty="0"/>
              <a:t>These insight can support better business decisions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91277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1528</TotalTime>
  <Words>993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Slice</vt:lpstr>
      <vt:lpstr>Supermarket sales data analysis</vt:lpstr>
      <vt:lpstr>Objective                             Data overview</vt:lpstr>
      <vt:lpstr>Data processing</vt:lpstr>
      <vt:lpstr>Exploratory data analysis</vt:lpstr>
      <vt:lpstr>Visualization &amp; findings</vt:lpstr>
      <vt:lpstr>PowerPoint Presentation</vt:lpstr>
      <vt:lpstr>PowerPoint Presentation</vt:lpstr>
      <vt:lpstr>PowerPoint Presentation</vt:lpstr>
      <vt:lpstr>Insights and findings</vt:lpstr>
      <vt:lpstr>Coclusion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Supermarket sales data                     analysis</dc:title>
  <dc:creator>User</dc:creator>
  <cp:lastModifiedBy>User</cp:lastModifiedBy>
  <cp:revision>44</cp:revision>
  <dcterms:created xsi:type="dcterms:W3CDTF">2026-09-22T17:49:20Z</dcterms:created>
  <dcterms:modified xsi:type="dcterms:W3CDTF">2026-10-08T07:28:30Z</dcterms:modified>
</cp:coreProperties>
</file>